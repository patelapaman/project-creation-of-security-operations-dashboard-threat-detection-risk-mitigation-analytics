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98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7848228" y="159023"/>
            <a:ext cx="13850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REVIEW</a:t>
            </a:r>
            <a:endParaRPr lang="en-US" sz="760" dirty="0"/>
          </a:p>
        </p:txBody>
      </p:sp>
      <p:sp>
        <p:nvSpPr>
          <p:cNvPr id="9" name="Text 5"/>
          <p:cNvSpPr/>
          <p:nvPr/>
        </p:nvSpPr>
        <p:spPr>
          <a:xfrm>
            <a:off x="731490" y="1243905"/>
            <a:ext cx="397998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1"/>
              </a:spcAft>
              <a:buNone/>
            </a:pPr>
            <a:r>
              <a:rPr lang="en-US" sz="900" b="1" kern="0" spc="180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&amp; RISK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490" y="1452265"/>
            <a:ext cx="2186069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30" b="1" kern="0" spc="-262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Security</a:t>
            </a:r>
            <a:endParaRPr lang="en-US" sz="4030" dirty="0"/>
          </a:p>
        </p:txBody>
      </p:sp>
      <p:sp>
        <p:nvSpPr>
          <p:cNvPr id="11" name="Text 7"/>
          <p:cNvSpPr/>
          <p:nvPr/>
        </p:nvSpPr>
        <p:spPr>
          <a:xfrm>
            <a:off x="731490" y="1938635"/>
            <a:ext cx="5989335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30" b="1" kern="0" spc="-262" dirty="0">
                <a:solidFill>
                  <a:srgbClr val="00BC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Operations Dashboard</a:t>
            </a:r>
            <a:endParaRPr lang="en-US" sz="4030" dirty="0"/>
          </a:p>
        </p:txBody>
      </p:sp>
      <p:sp>
        <p:nvSpPr>
          <p:cNvPr id="12" name="Text 8"/>
          <p:cNvSpPr/>
          <p:nvPr/>
        </p:nvSpPr>
        <p:spPr>
          <a:xfrm>
            <a:off x="731490" y="2700263"/>
            <a:ext cx="5041590" cy="3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12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 unified security console for data aggregation, explainable AI</a:t>
            </a:r>
            <a:endParaRPr lang="en-US" sz="112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12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detection, risk prioritization, and incident response.</a:t>
            </a:r>
            <a:endParaRPr lang="en-US" sz="1120" dirty="0"/>
          </a:p>
        </p:txBody>
      </p:sp>
      <p:sp>
        <p:nvSpPr>
          <p:cNvPr id="13" name="Text 9"/>
          <p:cNvSpPr/>
          <p:nvPr/>
        </p:nvSpPr>
        <p:spPr>
          <a:xfrm>
            <a:off x="731490" y="3394249"/>
            <a:ext cx="4166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91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760" dirty="0"/>
          </a:p>
        </p:txBody>
      </p:sp>
      <p:sp>
        <p:nvSpPr>
          <p:cNvPr id="14" name="Text 10"/>
          <p:cNvSpPr/>
          <p:nvPr/>
        </p:nvSpPr>
        <p:spPr>
          <a:xfrm>
            <a:off x="731490" y="3593604"/>
            <a:ext cx="12276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</a:rPr>
              <a:t>TEAM :- B</a:t>
            </a:r>
            <a:endParaRPr lang="en-US" sz="1190" dirty="0"/>
          </a:p>
        </p:txBody>
      </p:sp>
      <p:sp>
        <p:nvSpPr>
          <p:cNvPr id="15" name="Text 11"/>
          <p:cNvSpPr/>
          <p:nvPr/>
        </p:nvSpPr>
        <p:spPr>
          <a:xfrm>
            <a:off x="1906191" y="3394249"/>
            <a:ext cx="5962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91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MENTOR</a:t>
            </a:r>
            <a:endParaRPr lang="en-US" sz="760" dirty="0"/>
          </a:p>
        </p:txBody>
      </p:sp>
      <p:sp>
        <p:nvSpPr>
          <p:cNvPr id="16" name="Text 12"/>
          <p:cNvSpPr/>
          <p:nvPr/>
        </p:nvSpPr>
        <p:spPr>
          <a:xfrm>
            <a:off x="1906191" y="3593604"/>
            <a:ext cx="140123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KAPIL PANWAR</a:t>
            </a:r>
            <a:endParaRPr lang="en-US" sz="1190" dirty="0"/>
          </a:p>
        </p:txBody>
      </p:sp>
      <p:sp>
        <p:nvSpPr>
          <p:cNvPr id="17" name="Shape 13"/>
          <p:cNvSpPr/>
          <p:nvPr/>
        </p:nvSpPr>
        <p:spPr>
          <a:xfrm>
            <a:off x="6035055" y="1183407"/>
            <a:ext cx="2286000" cy="2519362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DFF">
                <a:alpha val="3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23174" y="1301651"/>
            <a:ext cx="1909762" cy="2190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6222653" y="1305595"/>
            <a:ext cx="1944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91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SECURITY CONSOLE</a:t>
            </a:r>
            <a:endParaRPr lang="en-US" sz="760" dirty="0"/>
          </a:p>
        </p:txBody>
      </p:sp>
      <p:sp>
        <p:nvSpPr>
          <p:cNvPr id="20" name="Shape 16"/>
          <p:cNvSpPr/>
          <p:nvPr/>
        </p:nvSpPr>
        <p:spPr>
          <a:xfrm>
            <a:off x="8061164" y="1337109"/>
            <a:ext cx="71438" cy="71438"/>
          </a:xfrm>
          <a:prstGeom prst="ellipse">
            <a:avLst/>
          </a:prstGeom>
          <a:solidFill>
            <a:srgbClr val="00D49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222690" y="1703003"/>
            <a:ext cx="909638" cy="409575"/>
          </a:xfrm>
          <a:prstGeom prst="rect">
            <a:avLst/>
          </a:prstGeom>
          <a:solidFill>
            <a:srgbClr val="10172B">
              <a:alpha val="90196"/>
            </a:srgbClr>
          </a:solidFill>
          <a:ln w="4763">
            <a:solidFill>
              <a:srgbClr val="3141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318796" y="1802978"/>
            <a:ext cx="5962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91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EVENTS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6318796" y="2012677"/>
            <a:ext cx="77040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00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223782" y="1703003"/>
            <a:ext cx="909638" cy="409575"/>
          </a:xfrm>
          <a:prstGeom prst="rect">
            <a:avLst/>
          </a:prstGeom>
          <a:solidFill>
            <a:srgbClr val="10172B">
              <a:alpha val="90196"/>
            </a:srgbClr>
          </a:solidFill>
          <a:ln w="4763">
            <a:solidFill>
              <a:srgbClr val="3141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7319888" y="1802978"/>
            <a:ext cx="4166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91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760" dirty="0"/>
          </a:p>
        </p:txBody>
      </p:sp>
      <p:sp>
        <p:nvSpPr>
          <p:cNvPr id="26" name="Text 22"/>
          <p:cNvSpPr/>
          <p:nvPr/>
        </p:nvSpPr>
        <p:spPr>
          <a:xfrm>
            <a:off x="7319888" y="2012677"/>
            <a:ext cx="94878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00" dirty="0">
                <a:solidFill>
                  <a:srgbClr val="FFD2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0–100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223174" y="2720280"/>
            <a:ext cx="1909762" cy="619125"/>
          </a:xfrm>
          <a:prstGeom prst="rect">
            <a:avLst/>
          </a:prstGeom>
          <a:solidFill>
            <a:srgbClr val="0F162A">
              <a:alpha val="80000"/>
            </a:srgbClr>
          </a:solidFill>
          <a:ln w="4763">
            <a:solidFill>
              <a:srgbClr val="3141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6318796" y="2822153"/>
            <a:ext cx="17643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91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ATTACK CHAIN SIGNAL</a:t>
            </a:r>
            <a:endParaRPr lang="en-US" sz="760" dirty="0"/>
          </a:p>
        </p:txBody>
      </p:sp>
      <p:sp>
        <p:nvSpPr>
          <p:cNvPr id="29" name="Shape 25"/>
          <p:cNvSpPr/>
          <p:nvPr/>
        </p:nvSpPr>
        <p:spPr>
          <a:xfrm>
            <a:off x="6318870" y="3084835"/>
            <a:ext cx="109537" cy="109537"/>
          </a:xfrm>
          <a:prstGeom prst="ellipse">
            <a:avLst/>
          </a:prstGeom>
          <a:ln w="9525">
            <a:solidFill>
              <a:srgbClr val="00B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6482953" y="3137222"/>
            <a:ext cx="585788" cy="4763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7123286" y="3084835"/>
            <a:ext cx="109537" cy="109537"/>
          </a:xfrm>
          <a:prstGeom prst="ellipse">
            <a:avLst/>
          </a:prstGeom>
          <a:ln w="9525">
            <a:solidFill>
              <a:srgbClr val="00B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7287369" y="3137222"/>
            <a:ext cx="585788" cy="4763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7927702" y="3084835"/>
            <a:ext cx="109537" cy="109537"/>
          </a:xfrm>
          <a:prstGeom prst="ellipse">
            <a:avLst/>
          </a:prstGeom>
          <a:ln w="9525">
            <a:solidFill>
              <a:srgbClr val="FF64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174" y="1301651"/>
            <a:ext cx="1909762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30219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Problem Statement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48893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SOC teams need context, not another stream of disconnected alerts.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724" y="1440135"/>
            <a:ext cx="2695575" cy="1800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89880" y="1632496"/>
            <a:ext cx="18779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ALERT FATIGUE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89880" y="1876979"/>
            <a:ext cx="2823284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A2A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Too many alerts. Too little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A2A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prioritization.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589880" y="2466901"/>
            <a:ext cx="2885390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Analysts spend time triaging raw logs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without a shared view of asset criticality,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confidence, or likely impact.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3242481" y="1440135"/>
            <a:ext cx="2695575" cy="1800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430637" y="1632496"/>
            <a:ext cx="25859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FRAGMENTED TELEMETRY</a:t>
            </a:r>
            <a:endParaRPr lang="en-US" sz="830" dirty="0"/>
          </a:p>
        </p:txBody>
      </p:sp>
      <p:sp>
        <p:nvSpPr>
          <p:cNvPr id="18" name="Text 14"/>
          <p:cNvSpPr/>
          <p:nvPr/>
        </p:nvSpPr>
        <p:spPr>
          <a:xfrm>
            <a:off x="3430637" y="1876979"/>
            <a:ext cx="253113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EE68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Signals live in separate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EE68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systems.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3430637" y="2466901"/>
            <a:ext cx="2982322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Endpoint, identity, vulnerability, and threat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intelligence data are difficult to correlate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across an incident.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6083238" y="1440135"/>
            <a:ext cx="2695575" cy="1800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271394" y="1632496"/>
            <a:ext cx="2181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STATIC DETECTION</a:t>
            </a:r>
            <a:endParaRPr lang="en-US" sz="830" dirty="0"/>
          </a:p>
        </p:txBody>
      </p:sp>
      <p:sp>
        <p:nvSpPr>
          <p:cNvPr id="22" name="Text 18"/>
          <p:cNvSpPr/>
          <p:nvPr/>
        </p:nvSpPr>
        <p:spPr>
          <a:xfrm>
            <a:off x="6271394" y="1876979"/>
            <a:ext cx="265360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74D4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Rules miss behavior that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74D4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changes.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6271394" y="2466901"/>
            <a:ext cx="2917798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Signature-only approaches struggle with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novel anomalies and can bury important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events in false positives.</a:t>
            </a:r>
            <a:endParaRPr lang="en-US" sz="970" dirty="0"/>
          </a:p>
        </p:txBody>
      </p:sp>
      <p:sp>
        <p:nvSpPr>
          <p:cNvPr id="24" name="Text 20"/>
          <p:cNvSpPr/>
          <p:nvPr/>
        </p:nvSpPr>
        <p:spPr>
          <a:xfrm>
            <a:off x="402282" y="4476229"/>
            <a:ext cx="61921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OPERATIONAL GAP → A single explainable path from event to response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16704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Objectives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68876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Turn heterogeneous security data into a defensible, actionable operating picture.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3250" y="1387525"/>
            <a:ext cx="2009775" cy="14763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62421" y="1567904"/>
            <a:ext cx="42794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70" dirty="0"/>
          </a:p>
        </p:txBody>
      </p:sp>
      <p:sp>
        <p:nvSpPr>
          <p:cNvPr id="14" name="Text 10"/>
          <p:cNvSpPr/>
          <p:nvPr/>
        </p:nvSpPr>
        <p:spPr>
          <a:xfrm>
            <a:off x="562421" y="1910209"/>
            <a:ext cx="9675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AGGREGATE</a:t>
            </a:r>
            <a:endParaRPr lang="en-US" sz="830" dirty="0"/>
          </a:p>
        </p:txBody>
      </p:sp>
      <p:sp>
        <p:nvSpPr>
          <p:cNvPr id="15" name="Text 11"/>
          <p:cNvSpPr/>
          <p:nvPr/>
        </p:nvSpPr>
        <p:spPr>
          <a:xfrm>
            <a:off x="562421" y="2169170"/>
            <a:ext cx="1963475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Normalize events and enrich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them with asset, vulnerability,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MITRE, and IOC context.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24646" y="1387525"/>
            <a:ext cx="2009775" cy="14763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683818" y="1567904"/>
            <a:ext cx="42794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70" dirty="0"/>
          </a:p>
        </p:txBody>
      </p:sp>
      <p:sp>
        <p:nvSpPr>
          <p:cNvPr id="18" name="Text 14"/>
          <p:cNvSpPr/>
          <p:nvPr/>
        </p:nvSpPr>
        <p:spPr>
          <a:xfrm>
            <a:off x="2683818" y="1910209"/>
            <a:ext cx="6640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2683818" y="2169170"/>
            <a:ext cx="2224861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Use unsupervised anomaly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detection to surface behavior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that does not match the baseline.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46042" y="1387525"/>
            <a:ext cx="2009775" cy="14763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805214" y="1567904"/>
            <a:ext cx="42794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70" dirty="0"/>
          </a:p>
        </p:txBody>
      </p:sp>
      <p:sp>
        <p:nvSpPr>
          <p:cNvPr id="22" name="Text 18"/>
          <p:cNvSpPr/>
          <p:nvPr/>
        </p:nvSpPr>
        <p:spPr>
          <a:xfrm>
            <a:off x="4805214" y="1910209"/>
            <a:ext cx="10687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PRIORITIZE</a:t>
            </a:r>
            <a:endParaRPr lang="en-US" sz="830" dirty="0"/>
          </a:p>
        </p:txBody>
      </p:sp>
      <p:sp>
        <p:nvSpPr>
          <p:cNvPr id="23" name="Text 19"/>
          <p:cNvSpPr/>
          <p:nvPr/>
        </p:nvSpPr>
        <p:spPr>
          <a:xfrm>
            <a:off x="4805214" y="2169170"/>
            <a:ext cx="2070370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Produce transparent 0–100 risk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scores that help analysts work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right queue first.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767475" y="1387525"/>
            <a:ext cx="2009775" cy="14763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926610" y="1567904"/>
            <a:ext cx="42794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70" dirty="0"/>
          </a:p>
        </p:txBody>
      </p:sp>
      <p:sp>
        <p:nvSpPr>
          <p:cNvPr id="26" name="Text 22"/>
          <p:cNvSpPr/>
          <p:nvPr/>
        </p:nvSpPr>
        <p:spPr>
          <a:xfrm>
            <a:off x="6926610" y="1910209"/>
            <a:ext cx="7652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RESPOND</a:t>
            </a:r>
            <a:endParaRPr lang="en-US" sz="830" dirty="0"/>
          </a:p>
        </p:txBody>
      </p:sp>
      <p:sp>
        <p:nvSpPr>
          <p:cNvPr id="27" name="Text 23"/>
          <p:cNvSpPr/>
          <p:nvPr/>
        </p:nvSpPr>
        <p:spPr>
          <a:xfrm>
            <a:off x="6926610" y="2169170"/>
            <a:ext cx="2232407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Connect investigation, incident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management, recommendations,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and security posture views.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01650" y="4624387"/>
            <a:ext cx="8377237" cy="4763"/>
          </a:xfrm>
          <a:prstGeom prst="rect">
            <a:avLst/>
          </a:prstGeom>
          <a:solidFill>
            <a:srgbClr val="3141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402282" y="4637336"/>
            <a:ext cx="40564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DESIGNED FOR EXPLAINABILITY · BUILT FOR FAST TRIAGE</a:t>
            </a:r>
            <a:endParaRPr lang="en-US" sz="790" dirty="0"/>
          </a:p>
        </p:txBody>
      </p:sp>
      <p:sp>
        <p:nvSpPr>
          <p:cNvPr id="30" name="Shape 26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27695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Proposed Solution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96640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 modular pipeline that keeps the evidence chain visible from ingestion to mitigation.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2282" y="1594470"/>
            <a:ext cx="1828800" cy="12858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53343" y="1750293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53343" y="2009254"/>
            <a:ext cx="19657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 aggregation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553343" y="2355949"/>
            <a:ext cx="1986015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Events, assets, CVEs, IOCs, and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MITRE mappings.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2322165" y="2235026"/>
            <a:ext cx="171450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2584698" y="1594470"/>
            <a:ext cx="1828800" cy="12858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2735759" y="1750293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2735759" y="2009254"/>
            <a:ext cx="1359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detection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2735759" y="2355949"/>
            <a:ext cx="1410809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Isolation Forest scores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anomalous behavior.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4504581" y="2235026"/>
            <a:ext cx="171450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4767114" y="1594470"/>
            <a:ext cx="1828800" cy="12858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918174" y="1750293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M3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4918174" y="2009254"/>
            <a:ext cx="19038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Risk prioritization</a:t>
            </a:r>
            <a:endParaRPr lang="en-US" sz="1440" dirty="0"/>
          </a:p>
        </p:txBody>
      </p:sp>
      <p:sp>
        <p:nvSpPr>
          <p:cNvPr id="25" name="Text 21"/>
          <p:cNvSpPr/>
          <p:nvPr/>
        </p:nvSpPr>
        <p:spPr>
          <a:xfrm>
            <a:off x="4918174" y="2355949"/>
            <a:ext cx="1534053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Explainable scoring and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correlated chains.</a:t>
            </a:r>
            <a:endParaRPr lang="en-US" sz="860" dirty="0"/>
          </a:p>
        </p:txBody>
      </p:sp>
      <p:sp>
        <p:nvSpPr>
          <p:cNvPr id="26" name="Shape 22"/>
          <p:cNvSpPr/>
          <p:nvPr/>
        </p:nvSpPr>
        <p:spPr>
          <a:xfrm>
            <a:off x="6686996" y="2235026"/>
            <a:ext cx="171450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949529" y="1594470"/>
            <a:ext cx="1828800" cy="12858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7100590" y="1750293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</a:t>
            </a:r>
            <a:endParaRPr lang="en-US" sz="830" dirty="0"/>
          </a:p>
        </p:txBody>
      </p:sp>
      <p:sp>
        <p:nvSpPr>
          <p:cNvPr id="29" name="Text 25"/>
          <p:cNvSpPr/>
          <p:nvPr/>
        </p:nvSpPr>
        <p:spPr>
          <a:xfrm>
            <a:off x="7100590" y="2009254"/>
            <a:ext cx="1229521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Integrated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30" name="Text 26"/>
          <p:cNvSpPr/>
          <p:nvPr/>
        </p:nvSpPr>
        <p:spPr>
          <a:xfrm>
            <a:off x="7100590" y="2630314"/>
            <a:ext cx="2021614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Investigation, posture, incidents,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and recommendations.</a:t>
            </a:r>
            <a:endParaRPr lang="en-US" sz="860" dirty="0"/>
          </a:p>
        </p:txBody>
      </p:sp>
      <p:sp>
        <p:nvSpPr>
          <p:cNvPr id="31" name="Shape 27"/>
          <p:cNvSpPr/>
          <p:nvPr/>
        </p:nvSpPr>
        <p:spPr>
          <a:xfrm>
            <a:off x="402729" y="4453607"/>
            <a:ext cx="90488" cy="90488"/>
          </a:xfrm>
          <a:prstGeom prst="ellipse">
            <a:avLst/>
          </a:prstGeom>
          <a:solidFill>
            <a:srgbClr val="00D49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585043" y="4424809"/>
            <a:ext cx="46500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83" dirty="0">
                <a:solidFill>
                  <a:srgbClr val="90A1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EVIDENCE CHAIN · FOUR IMPLEMENTATION MODULES</a:t>
            </a:r>
            <a:endParaRPr lang="en-US" sz="830" dirty="0"/>
          </a:p>
        </p:txBody>
      </p:sp>
      <p:sp>
        <p:nvSpPr>
          <p:cNvPr id="33" name="Shape 29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27697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Technology Stack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488835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 pragmatic full-stack foundation for data-heavy security workflows.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724" y="1492002"/>
            <a:ext cx="2695575" cy="2005012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89880" y="1683916"/>
            <a:ext cx="147330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&amp; DATA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89880" y="1938114"/>
            <a:ext cx="6654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Python</a:t>
            </a:r>
            <a:endParaRPr lang="en-US" sz="1190" dirty="0"/>
          </a:p>
        </p:txBody>
      </p:sp>
      <p:sp>
        <p:nvSpPr>
          <p:cNvPr id="15" name="Text 11"/>
          <p:cNvSpPr/>
          <p:nvPr/>
        </p:nvSpPr>
        <p:spPr>
          <a:xfrm>
            <a:off x="2525316" y="1968401"/>
            <a:ext cx="55612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runtime</a:t>
            </a:r>
            <a:endParaRPr lang="en-US" sz="720" dirty="0"/>
          </a:p>
        </p:txBody>
      </p:sp>
      <p:sp>
        <p:nvSpPr>
          <p:cNvPr id="16" name="Text 12"/>
          <p:cNvSpPr/>
          <p:nvPr/>
        </p:nvSpPr>
        <p:spPr>
          <a:xfrm>
            <a:off x="589880" y="2308101"/>
            <a:ext cx="5059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Flask</a:t>
            </a:r>
            <a:endParaRPr lang="en-US" sz="1190" dirty="0"/>
          </a:p>
        </p:txBody>
      </p:sp>
      <p:sp>
        <p:nvSpPr>
          <p:cNvPr id="17" name="Text 13"/>
          <p:cNvSpPr/>
          <p:nvPr/>
        </p:nvSpPr>
        <p:spPr>
          <a:xfrm>
            <a:off x="2415629" y="2338388"/>
            <a:ext cx="69871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layer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589880" y="2678088"/>
            <a:ext cx="91425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MongoDB</a:t>
            </a:r>
            <a:endParaRPr lang="en-US" sz="1190" dirty="0"/>
          </a:p>
        </p:txBody>
      </p:sp>
      <p:sp>
        <p:nvSpPr>
          <p:cNvPr id="19" name="Text 15"/>
          <p:cNvSpPr/>
          <p:nvPr/>
        </p:nvSpPr>
        <p:spPr>
          <a:xfrm>
            <a:off x="2196331" y="2708374"/>
            <a:ext cx="9838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 store</a:t>
            </a:r>
            <a:endParaRPr lang="en-US" sz="720" dirty="0"/>
          </a:p>
        </p:txBody>
      </p:sp>
      <p:sp>
        <p:nvSpPr>
          <p:cNvPr id="20" name="Text 16"/>
          <p:cNvSpPr/>
          <p:nvPr/>
        </p:nvSpPr>
        <p:spPr>
          <a:xfrm>
            <a:off x="589880" y="3048074"/>
            <a:ext cx="12260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CSV fallback</a:t>
            </a:r>
            <a:endParaRPr lang="en-US" sz="1190" dirty="0"/>
          </a:p>
        </p:txBody>
      </p:sp>
      <p:sp>
        <p:nvSpPr>
          <p:cNvPr id="21" name="Text 17"/>
          <p:cNvSpPr/>
          <p:nvPr/>
        </p:nvSpPr>
        <p:spPr>
          <a:xfrm>
            <a:off x="2086719" y="3078361"/>
            <a:ext cx="11263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demo data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3242481" y="1492002"/>
            <a:ext cx="2695575" cy="2005012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3430637" y="1683916"/>
            <a:ext cx="147330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&amp; ANALYTICS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3430637" y="1938114"/>
            <a:ext cx="7048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Pandas</a:t>
            </a:r>
            <a:endParaRPr lang="en-US" sz="1190" dirty="0"/>
          </a:p>
        </p:txBody>
      </p:sp>
      <p:sp>
        <p:nvSpPr>
          <p:cNvPr id="25" name="Text 21"/>
          <p:cNvSpPr/>
          <p:nvPr/>
        </p:nvSpPr>
        <p:spPr>
          <a:xfrm>
            <a:off x="5091931" y="1968401"/>
            <a:ext cx="91251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prep</a:t>
            </a:r>
            <a:endParaRPr lang="en-US" sz="720" dirty="0"/>
          </a:p>
        </p:txBody>
      </p:sp>
      <p:sp>
        <p:nvSpPr>
          <p:cNvPr id="26" name="Text 22"/>
          <p:cNvSpPr/>
          <p:nvPr/>
        </p:nvSpPr>
        <p:spPr>
          <a:xfrm>
            <a:off x="3430637" y="2308101"/>
            <a:ext cx="10425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scikit-learn</a:t>
            </a:r>
            <a:endParaRPr lang="en-US" sz="1190" dirty="0"/>
          </a:p>
        </p:txBody>
      </p:sp>
      <p:sp>
        <p:nvSpPr>
          <p:cNvPr id="27" name="Text 23"/>
          <p:cNvSpPr/>
          <p:nvPr/>
        </p:nvSpPr>
        <p:spPr>
          <a:xfrm>
            <a:off x="4872633" y="2338388"/>
            <a:ext cx="119759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Isolation Forest</a:t>
            </a:r>
            <a:endParaRPr lang="en-US" sz="720" dirty="0"/>
          </a:p>
        </p:txBody>
      </p:sp>
      <p:sp>
        <p:nvSpPr>
          <p:cNvPr id="28" name="Text 24"/>
          <p:cNvSpPr/>
          <p:nvPr/>
        </p:nvSpPr>
        <p:spPr>
          <a:xfrm>
            <a:off x="3430637" y="2678088"/>
            <a:ext cx="5848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Joblib</a:t>
            </a:r>
            <a:endParaRPr lang="en-US" sz="1190" dirty="0"/>
          </a:p>
        </p:txBody>
      </p:sp>
      <p:sp>
        <p:nvSpPr>
          <p:cNvPr id="29" name="Text 25"/>
          <p:cNvSpPr/>
          <p:nvPr/>
        </p:nvSpPr>
        <p:spPr>
          <a:xfrm>
            <a:off x="4817790" y="2708374"/>
            <a:ext cx="126889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persistence</a:t>
            </a:r>
            <a:endParaRPr lang="en-US" sz="720" dirty="0"/>
          </a:p>
        </p:txBody>
      </p:sp>
      <p:sp>
        <p:nvSpPr>
          <p:cNvPr id="30" name="Text 26"/>
          <p:cNvSpPr/>
          <p:nvPr/>
        </p:nvSpPr>
        <p:spPr>
          <a:xfrm>
            <a:off x="3430637" y="3048074"/>
            <a:ext cx="9560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REST APIs</a:t>
            </a:r>
            <a:endParaRPr lang="en-US" sz="1190" dirty="0"/>
          </a:p>
        </p:txBody>
      </p:sp>
      <p:sp>
        <p:nvSpPr>
          <p:cNvPr id="31" name="Text 27"/>
          <p:cNvSpPr/>
          <p:nvPr/>
        </p:nvSpPr>
        <p:spPr>
          <a:xfrm>
            <a:off x="5037088" y="3078361"/>
            <a:ext cx="9838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routes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6083238" y="1492002"/>
            <a:ext cx="2695575" cy="2005012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271394" y="1683916"/>
            <a:ext cx="8664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830" dirty="0"/>
          </a:p>
        </p:txBody>
      </p:sp>
      <p:sp>
        <p:nvSpPr>
          <p:cNvPr id="34" name="Text 30"/>
          <p:cNvSpPr/>
          <p:nvPr/>
        </p:nvSpPr>
        <p:spPr>
          <a:xfrm>
            <a:off x="6271394" y="1938114"/>
            <a:ext cx="56125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React</a:t>
            </a:r>
            <a:endParaRPr lang="en-US" sz="1190" dirty="0"/>
          </a:p>
        </p:txBody>
      </p:sp>
      <p:sp>
        <p:nvSpPr>
          <p:cNvPr id="35" name="Text 31"/>
          <p:cNvSpPr/>
          <p:nvPr/>
        </p:nvSpPr>
        <p:spPr>
          <a:xfrm>
            <a:off x="8042374" y="1968401"/>
            <a:ext cx="76991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console UI</a:t>
            </a:r>
            <a:endParaRPr lang="en-US" sz="720" dirty="0"/>
          </a:p>
        </p:txBody>
      </p:sp>
      <p:sp>
        <p:nvSpPr>
          <p:cNvPr id="36" name="Text 32"/>
          <p:cNvSpPr/>
          <p:nvPr/>
        </p:nvSpPr>
        <p:spPr>
          <a:xfrm>
            <a:off x="6271394" y="2308101"/>
            <a:ext cx="4204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Vite</a:t>
            </a:r>
            <a:endParaRPr lang="en-US" sz="1190" dirty="0"/>
          </a:p>
        </p:txBody>
      </p:sp>
      <p:sp>
        <p:nvSpPr>
          <p:cNvPr id="37" name="Text 33"/>
          <p:cNvSpPr/>
          <p:nvPr/>
        </p:nvSpPr>
        <p:spPr>
          <a:xfrm>
            <a:off x="7877845" y="2338388"/>
            <a:ext cx="9838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tooling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6271394" y="2678088"/>
            <a:ext cx="8268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Recharts</a:t>
            </a:r>
            <a:endParaRPr lang="en-US" sz="1190" dirty="0"/>
          </a:p>
        </p:txBody>
      </p:sp>
      <p:sp>
        <p:nvSpPr>
          <p:cNvPr id="39" name="Text 35"/>
          <p:cNvSpPr/>
          <p:nvPr/>
        </p:nvSpPr>
        <p:spPr>
          <a:xfrm>
            <a:off x="7713390" y="2708374"/>
            <a:ext cx="119759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visual analytics</a:t>
            </a:r>
            <a:endParaRPr lang="en-US" sz="720" dirty="0"/>
          </a:p>
        </p:txBody>
      </p:sp>
      <p:sp>
        <p:nvSpPr>
          <p:cNvPr id="40" name="Text 36"/>
          <p:cNvSpPr/>
          <p:nvPr/>
        </p:nvSpPr>
        <p:spPr>
          <a:xfrm>
            <a:off x="6271394" y="3048074"/>
            <a:ext cx="123513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CSS modules</a:t>
            </a:r>
            <a:endParaRPr lang="en-US" sz="1190" dirty="0"/>
          </a:p>
        </p:txBody>
      </p:sp>
      <p:sp>
        <p:nvSpPr>
          <p:cNvPr id="41" name="Text 37"/>
          <p:cNvSpPr/>
          <p:nvPr/>
        </p:nvSpPr>
        <p:spPr>
          <a:xfrm>
            <a:off x="7658546" y="3078361"/>
            <a:ext cx="126889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responsive layout</a:t>
            </a:r>
            <a:endParaRPr lang="en-US" sz="720" dirty="0"/>
          </a:p>
        </p:txBody>
      </p:sp>
      <p:sp>
        <p:nvSpPr>
          <p:cNvPr id="42" name="Shape 38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843" y="1919846"/>
            <a:ext cx="2319337" cy="280987"/>
          </a:xfrm>
          <a:prstGeom prst="rect">
            <a:avLst/>
          </a:prstGeom>
        </p:spPr>
      </p:pic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843" y="2289832"/>
            <a:ext cx="2319337" cy="280987"/>
          </a:xfrm>
          <a:prstGeom prst="rect">
            <a:avLst/>
          </a:prstGeom>
        </p:spPr>
      </p:pic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843" y="2659819"/>
            <a:ext cx="2319337" cy="280987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30600" y="1919846"/>
            <a:ext cx="2319337" cy="280987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30600" y="2289832"/>
            <a:ext cx="2319337" cy="280987"/>
          </a:xfrm>
          <a:prstGeom prst="rect">
            <a:avLst/>
          </a:prstGeom>
        </p:spPr>
      </p:pic>
      <p:pic>
        <p:nvPicPr>
          <p:cNvPr id="4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0600" y="2659819"/>
            <a:ext cx="2319337" cy="280987"/>
          </a:xfrm>
          <a:prstGeom prst="rect">
            <a:avLst/>
          </a:prstGeom>
        </p:spPr>
      </p:pic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1357" y="1919846"/>
            <a:ext cx="2319337" cy="280987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1357" y="2289832"/>
            <a:ext cx="2319337" cy="280987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71357" y="2659819"/>
            <a:ext cx="2319337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31482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System Architecture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722806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dashboard keeps collection, model inference, prioritization, and user workflows as separate layers.</a:t>
            </a:r>
            <a:endParaRPr lang="en-US" sz="970" dirty="0"/>
          </a:p>
        </p:txBody>
      </p:sp>
      <p:sp>
        <p:nvSpPr>
          <p:cNvPr id="12" name="Text 8"/>
          <p:cNvSpPr/>
          <p:nvPr/>
        </p:nvSpPr>
        <p:spPr>
          <a:xfrm>
            <a:off x="402282" y="1496318"/>
            <a:ext cx="6640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01278" y="1731020"/>
            <a:ext cx="2276475" cy="657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35037" y="1883271"/>
            <a:ext cx="1331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Security events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535037" y="2122661"/>
            <a:ext cx="9838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CSV / MongoDB</a:t>
            </a:r>
            <a:endParaRPr lang="en-US" sz="720" dirty="0"/>
          </a:p>
        </p:txBody>
      </p:sp>
      <p:sp>
        <p:nvSpPr>
          <p:cNvPr id="16" name="Shape 12"/>
          <p:cNvSpPr/>
          <p:nvPr/>
        </p:nvSpPr>
        <p:spPr>
          <a:xfrm>
            <a:off x="401278" y="2449041"/>
            <a:ext cx="2276475" cy="657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35037" y="2601292"/>
            <a:ext cx="12499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Assets &amp; CVEs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535037" y="2840682"/>
            <a:ext cx="11263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sources</a:t>
            </a:r>
            <a:endParaRPr lang="en-US" sz="720" dirty="0"/>
          </a:p>
        </p:txBody>
      </p:sp>
      <p:sp>
        <p:nvSpPr>
          <p:cNvPr id="19" name="Shape 15"/>
          <p:cNvSpPr/>
          <p:nvPr/>
        </p:nvSpPr>
        <p:spPr>
          <a:xfrm>
            <a:off x="401278" y="3167063"/>
            <a:ext cx="2276475" cy="657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35037" y="3319314"/>
            <a:ext cx="16100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Threat intelligence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535037" y="3558704"/>
            <a:ext cx="91251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IOCs / MITRE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2741749" y="2655317"/>
            <a:ext cx="361950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168625" y="1755167"/>
            <a:ext cx="2843213" cy="1804988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3356297" y="1947044"/>
            <a:ext cx="11698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ENGINE</a:t>
            </a:r>
            <a:endParaRPr lang="en-US" sz="830" dirty="0"/>
          </a:p>
        </p:txBody>
      </p:sp>
      <p:sp>
        <p:nvSpPr>
          <p:cNvPr id="25" name="Text 21"/>
          <p:cNvSpPr/>
          <p:nvPr/>
        </p:nvSpPr>
        <p:spPr>
          <a:xfrm>
            <a:off x="3356297" y="2182192"/>
            <a:ext cx="315954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B8E6F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Detection &amp; risk pipeline</a:t>
            </a:r>
            <a:endParaRPr lang="en-US" sz="1730" dirty="0"/>
          </a:p>
        </p:txBody>
      </p:sp>
      <p:sp>
        <p:nvSpPr>
          <p:cNvPr id="26" name="Text 22"/>
          <p:cNvSpPr/>
          <p:nvPr/>
        </p:nvSpPr>
        <p:spPr>
          <a:xfrm>
            <a:off x="3356297" y="2583135"/>
            <a:ext cx="319359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Normalization → feature engineering → anomaly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score → risk score → correlated attack chain.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56297" y="3089821"/>
            <a:ext cx="2752665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 blueprints · Python services ·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persisted model</a:t>
            </a:r>
            <a:endParaRPr lang="en-US" sz="760" dirty="0"/>
          </a:p>
        </p:txBody>
      </p:sp>
      <p:sp>
        <p:nvSpPr>
          <p:cNvPr id="28" name="Shape 24"/>
          <p:cNvSpPr/>
          <p:nvPr/>
        </p:nvSpPr>
        <p:spPr>
          <a:xfrm>
            <a:off x="6076764" y="2655317"/>
            <a:ext cx="361950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503715" y="1496318"/>
            <a:ext cx="10687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lang="en-US" sz="830" dirty="0"/>
          </a:p>
        </p:txBody>
      </p:sp>
      <p:sp>
        <p:nvSpPr>
          <p:cNvPr id="30" name="Shape 26"/>
          <p:cNvSpPr/>
          <p:nvPr/>
        </p:nvSpPr>
        <p:spPr>
          <a:xfrm>
            <a:off x="6502747" y="1731020"/>
            <a:ext cx="2276475" cy="657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636469" y="1883271"/>
            <a:ext cx="9738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Dashboard</a:t>
            </a:r>
            <a:endParaRPr lang="en-US" sz="1120" dirty="0"/>
          </a:p>
        </p:txBody>
      </p:sp>
      <p:sp>
        <p:nvSpPr>
          <p:cNvPr id="32" name="Text 28"/>
          <p:cNvSpPr/>
          <p:nvPr/>
        </p:nvSpPr>
        <p:spPr>
          <a:xfrm>
            <a:off x="6636469" y="2122661"/>
            <a:ext cx="148268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overview &amp; analytics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502747" y="2449041"/>
            <a:ext cx="2276475" cy="657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6636469" y="2601292"/>
            <a:ext cx="112697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Investigation</a:t>
            </a:r>
            <a:endParaRPr lang="en-US" sz="1120" dirty="0"/>
          </a:p>
        </p:txBody>
      </p:sp>
      <p:sp>
        <p:nvSpPr>
          <p:cNvPr id="35" name="Text 31"/>
          <p:cNvSpPr/>
          <p:nvPr/>
        </p:nvSpPr>
        <p:spPr>
          <a:xfrm>
            <a:off x="6636469" y="2840682"/>
            <a:ext cx="91251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 detail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6502747" y="3167063"/>
            <a:ext cx="2276475" cy="657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6636469" y="3319314"/>
            <a:ext cx="8404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Response</a:t>
            </a:r>
            <a:endParaRPr lang="en-US" sz="1120" dirty="0"/>
          </a:p>
        </p:txBody>
      </p:sp>
      <p:sp>
        <p:nvSpPr>
          <p:cNvPr id="38" name="Text 34"/>
          <p:cNvSpPr/>
          <p:nvPr/>
        </p:nvSpPr>
        <p:spPr>
          <a:xfrm>
            <a:off x="6636469" y="3558704"/>
            <a:ext cx="141148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incidents &amp; actions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68463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M1 – Data Aggregation &amp; Threat Intelligence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17973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add your backend and frontend captures here.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2282" y="149058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7057" y="159774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637854" y="2357586"/>
            <a:ext cx="21938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1578620" y="2609180"/>
            <a:ext cx="23479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event ingestion / normalized schema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2002482" y="291286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683358" y="301049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663418" y="149058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768193" y="159774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853336" y="2357586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5848722" y="2609180"/>
            <a:ext cx="232450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threat intelligence / enrichment view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6263580" y="291286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5944530" y="301049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9173E3-9E8D-121D-C49D-D44FE0A75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358" y="1499816"/>
            <a:ext cx="4027772" cy="24193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7FED1CD-9BC2-797C-6ADA-2BA53D077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724" y="1509044"/>
            <a:ext cx="4109357" cy="24101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39086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M2 – AI Threat Detection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81994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add the model output and the UI state that consumes it.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2282" y="149058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7057" y="159774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637854" y="2357586"/>
            <a:ext cx="21938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1382911" y="2609180"/>
            <a:ext cx="28566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Isolation Forest inference / anomaly response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2002482" y="291286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683358" y="301049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663418" y="149058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768193" y="159774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853336" y="2357586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5828481" y="2609180"/>
            <a:ext cx="23771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detection results / confidence view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6263580" y="291286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5944530" y="301049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02282" y="4592836"/>
            <a:ext cx="45548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FEATURES · 300 ESTIMATORS · UNSUPERVISED DETECTION</a:t>
            </a:r>
            <a:endParaRPr lang="en-US" sz="760" dirty="0"/>
          </a:p>
        </p:txBody>
      </p:sp>
      <p:sp>
        <p:nvSpPr>
          <p:cNvPr id="25" name="Shape 21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03D69B-FA59-628D-6881-F5293C8C1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443" y="1490587"/>
            <a:ext cx="4035276" cy="24193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58B0CD0-F57D-DFC7-0FB3-C9604944B9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80" y="1490587"/>
            <a:ext cx="4114802" cy="24145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50299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M3 – Risk Scoring &amp; Prioritization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646818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show how raw model signals become a prioritized analyst queue.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2282" y="149058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7057" y="159774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637854" y="2357586"/>
            <a:ext cx="21938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1613892" y="2609180"/>
            <a:ext cx="22561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risk score / high-risk asset response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2002482" y="291286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683358" y="301049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663418" y="149058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768193" y="159774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853336" y="2357586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5878711" y="2609180"/>
            <a:ext cx="224662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prioritized risks / explainability view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6263580" y="291286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5944530" y="301049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02282" y="4592836"/>
            <a:ext cx="45548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0–100 RISK SCALE · ASSET CRITICALITY · THREAT CONTEXT</a:t>
            </a:r>
            <a:endParaRPr lang="en-US" sz="760" dirty="0"/>
          </a:p>
        </p:txBody>
      </p:sp>
      <p:sp>
        <p:nvSpPr>
          <p:cNvPr id="25" name="Shape 21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D9ACEA1-2242-250B-36BA-924B8CDBE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18" y="1490589"/>
            <a:ext cx="4114800" cy="24193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A9A17A9-85FE-F23F-F7CD-DB6058773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81" y="1422767"/>
            <a:ext cx="4156361" cy="25016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50633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Attack Chain &amp; Event Correlation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642543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Temporal correlation turns isolated records into a sequence that an analyst can investigate.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914400" y="2067669"/>
            <a:ext cx="7315200" cy="4763"/>
          </a:xfrm>
          <a:prstGeom prst="rect">
            <a:avLst/>
          </a:prstGeom>
          <a:solidFill>
            <a:srgbClr val="00BC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48283" y="1850752"/>
            <a:ext cx="1500188" cy="1419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248370" y="1806439"/>
            <a:ext cx="100013" cy="100013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B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81335" y="1989162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681335" y="2243361"/>
            <a:ext cx="111353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Initial access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681335" y="2493094"/>
            <a:ext cx="1479783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brute force / login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burst</a:t>
            </a:r>
            <a:endParaRPr lang="en-US" sz="760" dirty="0"/>
          </a:p>
        </p:txBody>
      </p:sp>
      <p:sp>
        <p:nvSpPr>
          <p:cNvPr id="18" name="Shape 14"/>
          <p:cNvSpPr/>
          <p:nvPr/>
        </p:nvSpPr>
        <p:spPr>
          <a:xfrm>
            <a:off x="2185057" y="2211735"/>
            <a:ext cx="1500188" cy="10572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2885108" y="2166454"/>
            <a:ext cx="100013" cy="100013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B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318072" y="2349178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2318072" y="2603376"/>
            <a:ext cx="85620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Execution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2318072" y="2853110"/>
            <a:ext cx="1479783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PowerShell / script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760" dirty="0"/>
          </a:p>
        </p:txBody>
      </p:sp>
      <p:sp>
        <p:nvSpPr>
          <p:cNvPr id="23" name="Shape 19"/>
          <p:cNvSpPr/>
          <p:nvPr/>
        </p:nvSpPr>
        <p:spPr>
          <a:xfrm>
            <a:off x="3821869" y="1850752"/>
            <a:ext cx="1500188" cy="1419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4521919" y="1806439"/>
            <a:ext cx="100013" cy="100013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B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3954884" y="1989162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30" dirty="0"/>
          </a:p>
        </p:txBody>
      </p:sp>
      <p:sp>
        <p:nvSpPr>
          <p:cNvPr id="26" name="Text 22"/>
          <p:cNvSpPr/>
          <p:nvPr/>
        </p:nvSpPr>
        <p:spPr>
          <a:xfrm>
            <a:off x="3954884" y="2243361"/>
            <a:ext cx="903513" cy="3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Privilege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escalation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3954884" y="2705695"/>
            <a:ext cx="1629534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 account / admin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</a:t>
            </a:r>
            <a:endParaRPr lang="en-US" sz="760" dirty="0"/>
          </a:p>
        </p:txBody>
      </p:sp>
      <p:sp>
        <p:nvSpPr>
          <p:cNvPr id="28" name="Shape 24"/>
          <p:cNvSpPr/>
          <p:nvPr/>
        </p:nvSpPr>
        <p:spPr>
          <a:xfrm>
            <a:off x="5458681" y="2211735"/>
            <a:ext cx="1500188" cy="10572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6158731" y="2166454"/>
            <a:ext cx="100013" cy="100013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B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5591696" y="2349178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30" dirty="0"/>
          </a:p>
        </p:txBody>
      </p:sp>
      <p:sp>
        <p:nvSpPr>
          <p:cNvPr id="31" name="Text 27"/>
          <p:cNvSpPr/>
          <p:nvPr/>
        </p:nvSpPr>
        <p:spPr>
          <a:xfrm>
            <a:off x="5591696" y="2603376"/>
            <a:ext cx="15762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Lateral movement</a:t>
            </a:r>
            <a:endParaRPr lang="en-US" sz="1120" dirty="0"/>
          </a:p>
        </p:txBody>
      </p:sp>
      <p:sp>
        <p:nvSpPr>
          <p:cNvPr id="32" name="Text 28"/>
          <p:cNvSpPr/>
          <p:nvPr/>
        </p:nvSpPr>
        <p:spPr>
          <a:xfrm>
            <a:off x="5591696" y="2853110"/>
            <a:ext cx="1255157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remote service /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 hop</a:t>
            </a:r>
            <a:endParaRPr lang="en-US" sz="760" dirty="0"/>
          </a:p>
        </p:txBody>
      </p:sp>
      <p:sp>
        <p:nvSpPr>
          <p:cNvPr id="33" name="Shape 29"/>
          <p:cNvSpPr/>
          <p:nvPr/>
        </p:nvSpPr>
        <p:spPr>
          <a:xfrm>
            <a:off x="7095492" y="1850752"/>
            <a:ext cx="1500188" cy="141922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7795543" y="1806439"/>
            <a:ext cx="100013" cy="100013"/>
          </a:xfrm>
          <a:prstGeom prst="ellipse">
            <a:avLst/>
          </a:prstGeom>
          <a:solidFill>
            <a:srgbClr val="0B1120"/>
          </a:solidFill>
          <a:ln w="9525">
            <a:solidFill>
              <a:srgbClr val="FF64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7228508" y="1989162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30" dirty="0"/>
          </a:p>
        </p:txBody>
      </p:sp>
      <p:sp>
        <p:nvSpPr>
          <p:cNvPr id="36" name="Text 32"/>
          <p:cNvSpPr/>
          <p:nvPr/>
        </p:nvSpPr>
        <p:spPr>
          <a:xfrm>
            <a:off x="7228508" y="2243361"/>
            <a:ext cx="6515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A2A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Impact</a:t>
            </a:r>
            <a:endParaRPr lang="en-US" sz="1120" dirty="0"/>
          </a:p>
        </p:txBody>
      </p:sp>
      <p:sp>
        <p:nvSpPr>
          <p:cNvPr id="37" name="Text 33"/>
          <p:cNvSpPr/>
          <p:nvPr/>
        </p:nvSpPr>
        <p:spPr>
          <a:xfrm>
            <a:off x="7228508" y="2493094"/>
            <a:ext cx="955655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ransomware /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exfiltration</a:t>
            </a:r>
            <a:endParaRPr lang="en-US" sz="760" dirty="0"/>
          </a:p>
        </p:txBody>
      </p:sp>
      <p:sp>
        <p:nvSpPr>
          <p:cNvPr id="38" name="Text 34"/>
          <p:cNvSpPr/>
          <p:nvPr/>
        </p:nvSpPr>
        <p:spPr>
          <a:xfrm>
            <a:off x="548580" y="4483001"/>
            <a:ext cx="63673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63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CORRELATION WINDOW · 30 MINUTES · EVENTS RETAIN THEIR ORIGINAL EVIDENCE</a:t>
            </a:r>
            <a:endParaRPr lang="en-US" sz="790" dirty="0"/>
          </a:p>
        </p:txBody>
      </p:sp>
      <p:sp>
        <p:nvSpPr>
          <p:cNvPr id="39" name="Shape 35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43435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M4 – Integrated Dashboard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601893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show the working console and its cross-module navigation.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650" y="1387748"/>
            <a:ext cx="8377237" cy="2676525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6425" y="1494904"/>
            <a:ext cx="8167687" cy="2462212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722787" y="2383334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3543374" y="2634928"/>
            <a:ext cx="27790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dashboard overview / analytics / navigation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4133031" y="2938611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813981" y="3036243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E79D9C-5891-8666-0F4E-2BD44B5A2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82" y="1378221"/>
            <a:ext cx="8339436" cy="26765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31117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Threat Investigation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73984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capture the event-to-context investigation experience.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650" y="1387748"/>
            <a:ext cx="8377237" cy="2676525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6425" y="1494904"/>
            <a:ext cx="8167687" cy="2462212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722787" y="2383334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3684463" y="2634928"/>
            <a:ext cx="24121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event detail / investigation workspace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4133031" y="2938611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813981" y="3036243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87A3F7-7C56-0879-6134-9003BC559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82" y="1387747"/>
            <a:ext cx="8339436" cy="2667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47248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MITRE / CVE / IOC Intelligence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658727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add the intelligence views that ground each alert in known context.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3064" y="1388715"/>
            <a:ext cx="2705100" cy="25717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7839" y="1493490"/>
            <a:ext cx="2495550" cy="2362200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025128" y="2331913"/>
            <a:ext cx="19564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MITRE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1062930" y="2583507"/>
            <a:ext cx="18581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tactics / techniques mapping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1298377" y="2887191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79326" y="2984822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237719" y="1388715"/>
            <a:ext cx="2705100" cy="25717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342494" y="1493490"/>
            <a:ext cx="2495550" cy="2362200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3951089" y="2331913"/>
            <a:ext cx="171901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CVE SCREENSHOT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4107805" y="2583507"/>
            <a:ext cx="131155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vulnerability context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4133031" y="2887191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813981" y="2984822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072374" y="1388715"/>
            <a:ext cx="2705100" cy="25717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6177149" y="1493490"/>
            <a:ext cx="2495550" cy="2362200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785744" y="2331913"/>
            <a:ext cx="171901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IOC SCREENSHOT</a:t>
            </a:r>
            <a:endParaRPr lang="en-US" sz="970" dirty="0"/>
          </a:p>
        </p:txBody>
      </p:sp>
      <p:sp>
        <p:nvSpPr>
          <p:cNvPr id="27" name="Text 23"/>
          <p:cNvSpPr/>
          <p:nvPr/>
        </p:nvSpPr>
        <p:spPr>
          <a:xfrm>
            <a:off x="6751365" y="2583507"/>
            <a:ext cx="18083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indicator reputation / lookup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6967686" y="2887191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6648636" y="2984822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860D90E-C95D-8174-A32F-84481B13D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414" y="1398092"/>
            <a:ext cx="2646156" cy="25717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B0FE9B-CCFA-3EEF-7E5D-1B5D24F74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064" y="1388714"/>
            <a:ext cx="2721628" cy="25669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51E6B2C-EFA6-EC59-3671-83B2F13C8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5846" y="1398093"/>
            <a:ext cx="2946991" cy="25529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24955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Security Posture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760312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show the posture view that converts detections into an organizational risk picture.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650" y="1387748"/>
            <a:ext cx="8377237" cy="2676525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6425" y="1494904"/>
            <a:ext cx="8167687" cy="2462212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722787" y="2383334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3586683" y="2634928"/>
            <a:ext cx="26663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security posture / exposure / risk overview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4133031" y="2938611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813981" y="3036243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CF5A7A-E935-2D70-5916-1B7197FA4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82" y="1387748"/>
            <a:ext cx="8376605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670297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Incident Management &amp; Recommendations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638286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Implementation evidence: add the incident workflow and recommended response actions.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2282" y="138774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7057" y="149490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592238" y="2254746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1624905" y="2506340"/>
            <a:ext cx="22274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incident queue / status / ownership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2002482" y="281002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683358" y="290765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663418" y="1387748"/>
            <a:ext cx="4114800" cy="241935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768193" y="1494904"/>
            <a:ext cx="3905250" cy="2205037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853336" y="2254746"/>
            <a:ext cx="23125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SCREENSHOT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5810994" y="2506340"/>
            <a:ext cx="24226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recommendations / mitigation actions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6263580" y="2810024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5944530" y="2907655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0F31F8-B3C9-6B7B-C65B-69A762945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44" y="1398091"/>
            <a:ext cx="4243238" cy="24090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A962688-9A76-6184-D280-69DEB5427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17" y="1398091"/>
            <a:ext cx="4078301" cy="23929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336743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End-to-End Workflow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619026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Every stage leaves a trace that can be explained to the analyst and defended in review.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910" y="1747763"/>
            <a:ext cx="976312" cy="11334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44190" y="1895401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44190" y="2154362"/>
            <a:ext cx="6321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Ingest</a:t>
            </a:r>
            <a:endParaRPr lang="en-US" sz="1260" dirty="0"/>
          </a:p>
        </p:txBody>
      </p:sp>
      <p:sp>
        <p:nvSpPr>
          <p:cNvPr id="15" name="Text 11"/>
          <p:cNvSpPr/>
          <p:nvPr/>
        </p:nvSpPr>
        <p:spPr>
          <a:xfrm>
            <a:off x="544190" y="2436242"/>
            <a:ext cx="894420" cy="6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Collect events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and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supporting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data.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1469827" y="2312119"/>
            <a:ext cx="690562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2251993" y="1747763"/>
            <a:ext cx="976312" cy="11334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2394272" y="1895401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2394272" y="2154362"/>
            <a:ext cx="6310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Enrich</a:t>
            </a:r>
            <a:endParaRPr lang="en-US" sz="1260" dirty="0"/>
          </a:p>
        </p:txBody>
      </p:sp>
      <p:sp>
        <p:nvSpPr>
          <p:cNvPr id="20" name="Text 16"/>
          <p:cNvSpPr/>
          <p:nvPr/>
        </p:nvSpPr>
        <p:spPr>
          <a:xfrm>
            <a:off x="2394272" y="2436242"/>
            <a:ext cx="931277" cy="44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Normalize and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attach threat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context.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3319909" y="2312119"/>
            <a:ext cx="690562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4102075" y="1747763"/>
            <a:ext cx="976312" cy="11334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244355" y="1895401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4244355" y="2154362"/>
            <a:ext cx="58921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Score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4244355" y="2436242"/>
            <a:ext cx="936985" cy="44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Detect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anomalies and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calculate risk.</a:t>
            </a:r>
            <a:endParaRPr lang="en-US" sz="830" dirty="0"/>
          </a:p>
        </p:txBody>
      </p:sp>
      <p:sp>
        <p:nvSpPr>
          <p:cNvPr id="26" name="Shape 22"/>
          <p:cNvSpPr/>
          <p:nvPr/>
        </p:nvSpPr>
        <p:spPr>
          <a:xfrm>
            <a:off x="5169991" y="2312119"/>
            <a:ext cx="690562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952158" y="1747763"/>
            <a:ext cx="976312" cy="11334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6094437" y="1895401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30" dirty="0"/>
          </a:p>
        </p:txBody>
      </p:sp>
      <p:sp>
        <p:nvSpPr>
          <p:cNvPr id="29" name="Text 25"/>
          <p:cNvSpPr/>
          <p:nvPr/>
        </p:nvSpPr>
        <p:spPr>
          <a:xfrm>
            <a:off x="6094437" y="2154362"/>
            <a:ext cx="9337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Correlate</a:t>
            </a:r>
            <a:endParaRPr lang="en-US" sz="1260" dirty="0"/>
          </a:p>
        </p:txBody>
      </p:sp>
      <p:sp>
        <p:nvSpPr>
          <p:cNvPr id="30" name="Text 26"/>
          <p:cNvSpPr/>
          <p:nvPr/>
        </p:nvSpPr>
        <p:spPr>
          <a:xfrm>
            <a:off x="6094437" y="2436242"/>
            <a:ext cx="819544" cy="2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Build the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attack chain.</a:t>
            </a:r>
            <a:endParaRPr lang="en-US" sz="830" dirty="0"/>
          </a:p>
        </p:txBody>
      </p:sp>
      <p:sp>
        <p:nvSpPr>
          <p:cNvPr id="31" name="Shape 27"/>
          <p:cNvSpPr/>
          <p:nvPr/>
        </p:nvSpPr>
        <p:spPr>
          <a:xfrm>
            <a:off x="7020074" y="2312119"/>
            <a:ext cx="690562" cy="4763"/>
          </a:xfrm>
          <a:prstGeom prst="rect">
            <a:avLst/>
          </a:prstGeom>
          <a:solidFill>
            <a:srgbClr val="00BBFF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7802240" y="1747763"/>
            <a:ext cx="976312" cy="11334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7944520" y="1895401"/>
            <a:ext cx="259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30" dirty="0"/>
          </a:p>
        </p:txBody>
      </p:sp>
      <p:sp>
        <p:nvSpPr>
          <p:cNvPr id="34" name="Text 30"/>
          <p:cNvSpPr/>
          <p:nvPr/>
        </p:nvSpPr>
        <p:spPr>
          <a:xfrm>
            <a:off x="7944520" y="2154362"/>
            <a:ext cx="8629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Respond</a:t>
            </a:r>
            <a:endParaRPr lang="en-US" sz="1260" dirty="0"/>
          </a:p>
        </p:txBody>
      </p:sp>
      <p:sp>
        <p:nvSpPr>
          <p:cNvPr id="35" name="Text 31"/>
          <p:cNvSpPr/>
          <p:nvPr/>
        </p:nvSpPr>
        <p:spPr>
          <a:xfrm>
            <a:off x="7944520" y="2436242"/>
            <a:ext cx="739155" cy="44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Investigate,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manage,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mitigate.</a:t>
            </a:r>
            <a:endParaRPr lang="en-US" sz="830" dirty="0"/>
          </a:p>
        </p:txBody>
      </p:sp>
      <p:sp>
        <p:nvSpPr>
          <p:cNvPr id="36" name="Text 32"/>
          <p:cNvSpPr/>
          <p:nvPr/>
        </p:nvSpPr>
        <p:spPr>
          <a:xfrm>
            <a:off x="503188" y="4431581"/>
            <a:ext cx="29586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 stays attached to the event.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3337843" y="4431581"/>
            <a:ext cx="28801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stays visible through response.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6172498" y="4431581"/>
            <a:ext cx="31154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Analyst action feeds the next decision.</a:t>
            </a:r>
            <a:endParaRPr lang="en-US" sz="790" dirty="0"/>
          </a:p>
        </p:txBody>
      </p:sp>
      <p:sp>
        <p:nvSpPr>
          <p:cNvPr id="39" name="Shape 35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064" y="4426074"/>
            <a:ext cx="2705100" cy="152400"/>
          </a:xfrm>
          <a:prstGeom prst="rect">
            <a:avLst/>
          </a:prstGeom>
        </p:spPr>
      </p:pic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7719" y="4426074"/>
            <a:ext cx="2705100" cy="152400"/>
          </a:xfrm>
          <a:prstGeom prst="rect">
            <a:avLst/>
          </a:prstGeom>
        </p:spPr>
      </p:pic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2374" y="4426074"/>
            <a:ext cx="27051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6462043" y="159023"/>
            <a:ext cx="31871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DETECTION / RISK ANALYTICS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260804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Testing &amp; Results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21146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Show the evidence from the implementation, not a documentation dump.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01799" y="1491369"/>
            <a:ext cx="3109913" cy="1314450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44190" y="1638226"/>
            <a:ext cx="16756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VALIDATION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44190" y="1892424"/>
            <a:ext cx="22627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Held-out evaluation path</a:t>
            </a:r>
            <a:endParaRPr lang="en-US" sz="1190" dirty="0"/>
          </a:p>
        </p:txBody>
      </p:sp>
      <p:sp>
        <p:nvSpPr>
          <p:cNvPr id="15" name="Text 11"/>
          <p:cNvSpPr/>
          <p:nvPr/>
        </p:nvSpPr>
        <p:spPr>
          <a:xfrm>
            <a:off x="544190" y="2170212"/>
            <a:ext cx="3466014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When reliable labels exist, the project evaluates accuracy,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precision, recall, F1, and a confusion matrix without using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labels for training.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401799" y="2882838"/>
            <a:ext cx="3109913" cy="1143000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44190" y="3029396"/>
            <a:ext cx="147330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RUNTIME CHECKS</a:t>
            </a:r>
            <a:endParaRPr lang="en-US" sz="830" dirty="0"/>
          </a:p>
        </p:txBody>
      </p:sp>
      <p:sp>
        <p:nvSpPr>
          <p:cNvPr id="18" name="Text 14"/>
          <p:cNvSpPr/>
          <p:nvPr/>
        </p:nvSpPr>
        <p:spPr>
          <a:xfrm>
            <a:off x="544190" y="3283595"/>
            <a:ext cx="24888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Health &amp; pipeline endpoints</a:t>
            </a:r>
            <a:endParaRPr lang="en-US" sz="1190" dirty="0"/>
          </a:p>
        </p:txBody>
      </p:sp>
      <p:sp>
        <p:nvSpPr>
          <p:cNvPr id="19" name="Text 15"/>
          <p:cNvSpPr/>
          <p:nvPr/>
        </p:nvSpPr>
        <p:spPr>
          <a:xfrm>
            <a:off x="544190" y="3561383"/>
            <a:ext cx="350451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API exposes health reporting, database status, model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readiness, and a pipeline execution route.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3840026" y="1492486"/>
            <a:ext cx="4938712" cy="2209800"/>
          </a:xfrm>
          <a:prstGeom prst="rect">
            <a:avLst/>
          </a:prstGeom>
          <a:solidFill>
            <a:srgbClr val="020518">
              <a:alpha val="54902"/>
            </a:srgbClr>
          </a:solidFill>
          <a:ln w="4763">
            <a:solidFill>
              <a:srgbClr val="00BCFF">
                <a:alpha val="45098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3944801" y="1597261"/>
            <a:ext cx="4729163" cy="2000250"/>
          </a:xfrm>
          <a:prstGeom prst="rect">
            <a:avLst/>
          </a:prstGeom>
          <a:ln w="4763">
            <a:solidFill>
              <a:srgbClr val="304258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487591" y="2254672"/>
            <a:ext cx="21938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kern="0" spc="136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 SCREENSHOT</a:t>
            </a:r>
            <a:endParaRPr lang="en-US" sz="970" dirty="0"/>
          </a:p>
        </p:txBody>
      </p:sp>
      <p:sp>
        <p:nvSpPr>
          <p:cNvPr id="23" name="Text 19"/>
          <p:cNvSpPr/>
          <p:nvPr/>
        </p:nvSpPr>
        <p:spPr>
          <a:xfrm>
            <a:off x="5122366" y="2506266"/>
            <a:ext cx="31433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62748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add evaluation output / dashboard evidence here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5852145" y="2809949"/>
            <a:ext cx="914400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5533095" y="2907581"/>
            <a:ext cx="1552575" cy="42863"/>
          </a:xfrm>
          <a:prstGeom prst="rect">
            <a:avLst/>
          </a:prstGeom>
          <a:solidFill>
            <a:srgbClr val="1D2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02282" y="4592836"/>
            <a:ext cx="523371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60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EVIDENCE TO ADD: API RESPONSE · MODEL METRICS · UI STATE</a:t>
            </a:r>
            <a:endParaRPr lang="en-US" sz="760" dirty="0"/>
          </a:p>
        </p:txBody>
      </p:sp>
      <p:sp>
        <p:nvSpPr>
          <p:cNvPr id="27" name="Shape 23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6966167-5DAB-DEC0-8E4A-EF187D8ED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026" y="1498170"/>
            <a:ext cx="4911408" cy="22098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1730" y="-924855"/>
            <a:ext cx="3838575" cy="2981325"/>
          </a:xfrm>
          <a:prstGeom prst="roundRect">
            <a:avLst>
              <a:gd name="adj" fmla="val 50000"/>
            </a:avLst>
          </a:prstGeom>
          <a:ln w="4763">
            <a:solidFill>
              <a:srgbClr val="00BA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857516" y="-668164"/>
            <a:ext cx="3109913" cy="2262187"/>
          </a:xfrm>
          <a:prstGeom prst="roundRect">
            <a:avLst>
              <a:gd name="adj" fmla="val 50000"/>
            </a:avLst>
          </a:prstGeom>
          <a:ln w="4763">
            <a:solidFill>
              <a:srgbClr val="00BFFF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290" y="159023"/>
            <a:ext cx="2880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36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OPERATIONS DASHBOARD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7848228" y="159023"/>
            <a:ext cx="13850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21" dirty="0">
                <a:solidFill>
                  <a:srgbClr val="455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REVIEW</a:t>
            </a:r>
            <a:endParaRPr lang="en-US" sz="760" dirty="0"/>
          </a:p>
        </p:txBody>
      </p:sp>
      <p:sp>
        <p:nvSpPr>
          <p:cNvPr id="9" name="Shape 5"/>
          <p:cNvSpPr/>
          <p:nvPr/>
        </p:nvSpPr>
        <p:spPr>
          <a:xfrm>
            <a:off x="293489" y="463228"/>
            <a:ext cx="23812" cy="266700"/>
          </a:xfrm>
          <a:prstGeom prst="rect">
            <a:avLst/>
          </a:prstGeom>
          <a:solidFill>
            <a:srgbClr val="00B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02282" y="439043"/>
            <a:ext cx="513233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30" b="1" kern="0" spc="-89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Conclusion + Future Scope + Q&amp;A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02282" y="848767"/>
            <a:ext cx="593409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 security operations dashboard that connects detection quality with analyst action.</a:t>
            </a:r>
            <a:endParaRPr lang="en-US" sz="970" dirty="0"/>
          </a:p>
        </p:txBody>
      </p:sp>
      <p:sp>
        <p:nvSpPr>
          <p:cNvPr id="12" name="Text 8"/>
          <p:cNvSpPr/>
          <p:nvPr/>
        </p:nvSpPr>
        <p:spPr>
          <a:xfrm>
            <a:off x="402282" y="1496318"/>
            <a:ext cx="10687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01315" y="1731057"/>
            <a:ext cx="4391025" cy="1581150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71574" y="1910713"/>
            <a:ext cx="4406697" cy="525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15"/>
              </a:lnSpc>
              <a:buNone/>
            </a:pPr>
            <a:r>
              <a:rPr lang="en-US" sz="16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Make the risk picture easier to see,</a:t>
            </a:r>
            <a:endParaRPr lang="en-US" sz="1690" dirty="0"/>
          </a:p>
          <a:p>
            <a:pPr marL="0" indent="0" algn="l">
              <a:lnSpc>
                <a:spcPts val="2115"/>
              </a:lnSpc>
              <a:buNone/>
            </a:pPr>
            <a:r>
              <a:rPr lang="en-US" sz="1690" b="1" dirty="0">
                <a:solidFill>
                  <a:srgbClr val="F1F5F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explain, and act on.</a:t>
            </a:r>
            <a:endParaRPr lang="en-US" sz="1690" dirty="0"/>
          </a:p>
        </p:txBody>
      </p:sp>
      <p:sp>
        <p:nvSpPr>
          <p:cNvPr id="15" name="Text 11"/>
          <p:cNvSpPr/>
          <p:nvPr/>
        </p:nvSpPr>
        <p:spPr>
          <a:xfrm>
            <a:off x="571574" y="2564681"/>
            <a:ext cx="4756502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project brings security telemetry, AI-assisted detection, risk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prioritization, attack-chain context, and incident workflows into one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90A1B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reviewable surface.</a:t>
            </a:r>
            <a:endParaRPr lang="en-US" sz="970" dirty="0"/>
          </a:p>
        </p:txBody>
      </p:sp>
      <p:sp>
        <p:nvSpPr>
          <p:cNvPr id="16" name="Text 12"/>
          <p:cNvSpPr/>
          <p:nvPr/>
        </p:nvSpPr>
        <p:spPr>
          <a:xfrm>
            <a:off x="5486474" y="1496318"/>
            <a:ext cx="127102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48"/>
              </a:spcAft>
              <a:buNone/>
            </a:pPr>
            <a:r>
              <a:rPr lang="en-US" sz="830" b="1" kern="0" spc="116" dirty="0">
                <a:solidFill>
                  <a:srgbClr val="00B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5486921" y="1731838"/>
            <a:ext cx="3290887" cy="1628775"/>
          </a:xfrm>
          <a:prstGeom prst="rect">
            <a:avLst/>
          </a:prstGeom>
          <a:solidFill>
            <a:srgbClr val="0F172B">
              <a:alpha val="60000"/>
            </a:srgbClr>
          </a:solidFill>
          <a:ln w="4763">
            <a:solidFill>
              <a:srgbClr val="304258">
                <a:alpha val="70196"/>
              </a:srgbClr>
            </a:solidFill>
            <a:prstDash val="solid"/>
          </a:ln>
          <a:effectLst>
            <a:outerShdw blurRad="274320" dist="146304" dir="5400000" algn="bl" rotWithShape="0">
              <a:srgbClr val="02061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655766" y="1915046"/>
            <a:ext cx="34848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 dirty="0">
                <a:solidFill>
                  <a:srgbClr val="CAD5E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Live streaming telemetry and connector expansion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5655766" y="2226543"/>
            <a:ext cx="34656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 dirty="0">
                <a:solidFill>
                  <a:srgbClr val="CAD5E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Feedback loops for analyst-informed model tuning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5655766" y="2538040"/>
            <a:ext cx="3473172" cy="32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940" dirty="0">
                <a:solidFill>
                  <a:srgbClr val="CAD5E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Automated response playbooks and richer posture</a:t>
            </a:r>
            <a:endParaRPr lang="en-US" sz="94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940" dirty="0">
                <a:solidFill>
                  <a:srgbClr val="CAD5E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trends</a:t>
            </a:r>
            <a:endParaRPr lang="en-US" sz="940" dirty="0"/>
          </a:p>
        </p:txBody>
      </p:sp>
      <p:sp>
        <p:nvSpPr>
          <p:cNvPr id="21" name="Text 17"/>
          <p:cNvSpPr/>
          <p:nvPr/>
        </p:nvSpPr>
        <p:spPr>
          <a:xfrm>
            <a:off x="5655766" y="3027759"/>
            <a:ext cx="389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CAD5E2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Production hardening, access control, and audit reporting</a:t>
            </a:r>
            <a:endParaRPr lang="en-US" sz="940" dirty="0"/>
          </a:p>
        </p:txBody>
      </p:sp>
      <p:sp>
        <p:nvSpPr>
          <p:cNvPr id="22" name="Text 18"/>
          <p:cNvSpPr/>
          <p:nvPr/>
        </p:nvSpPr>
        <p:spPr>
          <a:xfrm>
            <a:off x="402282" y="4420567"/>
            <a:ext cx="57063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kern="0" spc="173" dirty="0">
                <a:solidFill>
                  <a:srgbClr val="74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Q&amp;A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6455718" y="4534495"/>
            <a:ext cx="3076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6274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:- B  · MENTOR: KAPIL PANWAR</a:t>
            </a:r>
            <a:endParaRPr lang="en-US" sz="790" dirty="0"/>
          </a:p>
        </p:txBody>
      </p:sp>
      <p:sp>
        <p:nvSpPr>
          <p:cNvPr id="24" name="Shape 20"/>
          <p:cNvSpPr/>
          <p:nvPr/>
        </p:nvSpPr>
        <p:spPr>
          <a:xfrm>
            <a:off x="273844" y="4984477"/>
            <a:ext cx="8596313" cy="4763"/>
          </a:xfrm>
          <a:prstGeom prst="rect">
            <a:avLst/>
          </a:prstGeom>
          <a:solidFill>
            <a:srgbClr val="30415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5990" y="1901279"/>
            <a:ext cx="2952750" cy="233362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5990" y="2212777"/>
            <a:ext cx="2952750" cy="233362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5990" y="2522897"/>
            <a:ext cx="2952750" cy="414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Security-Operations-Dashboard---Aman-Patel</Template>
  <TotalTime>2</TotalTime>
  <Words>1187</Words>
  <Application>Microsoft Office PowerPoint</Application>
  <PresentationFormat>On-screen Show (16:9)</PresentationFormat>
  <Paragraphs>314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JetBrains Mono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Aman Patel</dc:creator>
  <cp:lastModifiedBy>Aman Patel</cp:lastModifiedBy>
  <cp:revision>1</cp:revision>
  <dcterms:created xsi:type="dcterms:W3CDTF">2026-09-14T19:57:52Z</dcterms:created>
  <dcterms:modified xsi:type="dcterms:W3CDTF">2026-09-14T20:49:04Z</dcterms:modified>
</cp:coreProperties>
</file>